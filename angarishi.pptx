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9C4F-A03B-4273-A53D-CA74B27D4B1A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13BE4-F937-4A8C-BF83-EACAFCC6A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1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9C4F-A03B-4273-A53D-CA74B27D4B1A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13BE4-F937-4A8C-BF83-EACAFCC6A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5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9C4F-A03B-4273-A53D-CA74B27D4B1A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13BE4-F937-4A8C-BF83-EACAFCC6A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41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9C4F-A03B-4273-A53D-CA74B27D4B1A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13BE4-F937-4A8C-BF83-EACAFCC6A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43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9C4F-A03B-4273-A53D-CA74B27D4B1A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13BE4-F937-4A8C-BF83-EACAFCC6A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8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9C4F-A03B-4273-A53D-CA74B27D4B1A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13BE4-F937-4A8C-BF83-EACAFCC6A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50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9C4F-A03B-4273-A53D-CA74B27D4B1A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13BE4-F937-4A8C-BF83-EACAFCC6A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8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9C4F-A03B-4273-A53D-CA74B27D4B1A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13BE4-F937-4A8C-BF83-EACAFCC6A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23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9C4F-A03B-4273-A53D-CA74B27D4B1A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13BE4-F937-4A8C-BF83-EACAFCC6A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05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9C4F-A03B-4273-A53D-CA74B27D4B1A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13BE4-F937-4A8C-BF83-EACAFCC6A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48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9C4F-A03B-4273-A53D-CA74B27D4B1A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13BE4-F937-4A8C-BF83-EACAFCC6A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7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C9C4F-A03B-4273-A53D-CA74B27D4B1A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13BE4-F937-4A8C-BF83-EACAFCC6A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04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EdzyV7LhZ5I" TargetMode="External"/><Relationship Id="rId2" Type="http://schemas.openxmlformats.org/officeDocument/2006/relationships/hyperlink" Target="https://youtu.be/7ZPaQsXMOg0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acebook.com/amigoSmith/videos/10219919422229293" TargetMode="External"/><Relationship Id="rId4" Type="http://schemas.openxmlformats.org/officeDocument/2006/relationships/hyperlink" Target="https://www.youtube.com/watch?v=LIN1s4dSqr0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ademia.edu/43109549/&#4309;&#4312;&#4307;&#4308;&#4317;_&#4328;&#4308;&#4334;&#4309;&#4308;&#4307;&#4320;&#4308;&#4305;&#4312;&#4321;_&#4321;&#4312;&#4321;&#4322;&#4308;&#4315;&#4304;_Google_Meet" TargetMode="External"/><Relationship Id="rId2" Type="http://schemas.openxmlformats.org/officeDocument/2006/relationships/hyperlink" Target="file:///G:\My%20Drive\personal\sangu\sangu-xelshekruleba\2020%20&#4328;&#4308;&#4315;&#4317;&#4307;&#4306;&#4317;&#4315;&#4304;%20&#4321;&#4304;&#4315;&#4308;&#4330;&#4316;&#4312;&#4308;&#4320;&#4317;\academia.edu\42257612\Online_&#4321;&#4332;&#4304;&#4309;&#4314;&#4308;&#4305;&#4312;&#4321;_&#4311;&#4304;&#4309;&#4312;&#4321;&#4308;&#4305;&#4323;&#4320;&#4308;&#4305;&#4308;&#4305;&#4312;_&#4320;&#4329;&#4308;&#4309;&#4308;&#4305;&#4312;_&#4308;&#4311;&#4312;&#4313;&#4304;_&#4307;&#4304;_&#4323;&#4321;&#4304;&#4324;&#4320;&#4311;&#4334;&#4317;&#4308;&#4305;&#4304;_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a-GE" dirty="0" smtClean="0"/>
              <a:t>სამეცნიერო მუშაობის ანგარიში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a-GE" dirty="0" smtClean="0"/>
              <a:t>პაატა </a:t>
            </a:r>
            <a:r>
              <a:rPr lang="ka-GE" dirty="0" err="1" smtClean="0"/>
              <a:t>გოგიშვლი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403838" y="413361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a-GE" sz="1200" dirty="0" smtClean="0"/>
              <a:t>საქართველოს საპატრიარქოს წმიდა ანდრია პირველწოდებულის სახელობის ქართული უნივერსიტეტი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35380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63769" y="391423"/>
            <a:ext cx="10471639" cy="4980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a-GE" sz="1400" dirty="0">
                <a:ea typeface="Candara" panose="020E0502030303020204" pitchFamily="34" charset="0"/>
                <a:cs typeface="Times New Roman" panose="02020603050405020304" pitchFamily="18" charset="0"/>
              </a:rPr>
              <a:t>კომპიუტერული მეცნიერების საგანმანათლებლო </a:t>
            </a:r>
            <a:r>
              <a:rPr lang="ka-GE" sz="1400" dirty="0" smtClean="0">
                <a:ea typeface="Candara" panose="020E0502030303020204" pitchFamily="34" charset="0"/>
                <a:cs typeface="Times New Roman" panose="02020603050405020304" pitchFamily="18" charset="0"/>
              </a:rPr>
              <a:t>კვირეული</a:t>
            </a:r>
            <a:r>
              <a:rPr lang="en-US" sz="1400" dirty="0" smtClean="0">
                <a:ea typeface="Candara" panose="020E0502030303020204" pitchFamily="34" charset="0"/>
                <a:cs typeface="Times New Roman" panose="02020603050405020304" pitchFamily="18" charset="0"/>
              </a:rPr>
              <a:t>, 2021 </a:t>
            </a:r>
            <a:r>
              <a:rPr lang="ka-GE" sz="1400" dirty="0" smtClean="0">
                <a:ea typeface="Candara" panose="020E0502030303020204" pitchFamily="34" charset="0"/>
                <a:cs typeface="Times New Roman" panose="02020603050405020304" pitchFamily="18" charset="0"/>
              </a:rPr>
              <a:t>წლის 11 დეკემბერი.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a-GE" sz="1400" dirty="0" smtClean="0">
                <a:ea typeface="Candara" panose="020E0502030303020204" pitchFamily="34" charset="0"/>
                <a:cs typeface="Times New Roman" panose="02020603050405020304" pitchFamily="18" charset="0"/>
              </a:rPr>
              <a:t>მოხსენების სათაური - </a:t>
            </a:r>
            <a:r>
              <a:rPr lang="ka-GE" sz="1400" dirty="0" err="1" smtClean="0">
                <a:ea typeface="Candara" panose="020E0502030303020204" pitchFamily="34" charset="0"/>
                <a:cs typeface="Times New Roman" panose="02020603050405020304" pitchFamily="18" charset="0"/>
              </a:rPr>
              <a:t>მეტავერსი</a:t>
            </a:r>
            <a:r>
              <a:rPr lang="ka-GE" sz="1400" dirty="0" smtClean="0">
                <a:ea typeface="Candara" panose="020E0502030303020204" pitchFamily="34" charset="0"/>
                <a:cs typeface="Times New Roman" panose="02020603050405020304" pitchFamily="18" charset="0"/>
              </a:rPr>
              <a:t>. </a:t>
            </a:r>
            <a:r>
              <a:rPr lang="en-US" sz="1400" dirty="0">
                <a:hlinkClick r:id="rId2"/>
              </a:rPr>
              <a:t>https://</a:t>
            </a:r>
            <a:r>
              <a:rPr lang="en-US" sz="1400" dirty="0" smtClean="0">
                <a:hlinkClick r:id="rId2"/>
              </a:rPr>
              <a:t>youtu.be/7ZPaQsXMOg0</a:t>
            </a:r>
            <a:endParaRPr lang="ka-GE" sz="1400" dirty="0" smtClean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ka-GE" sz="1400" dirty="0">
              <a:ea typeface="Candara" panose="020E0502030303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a-GE" sz="1400" dirty="0" err="1"/>
              <a:t>ვებინარი</a:t>
            </a:r>
            <a:r>
              <a:rPr lang="ka-GE" sz="1400" dirty="0"/>
              <a:t> კომპიუტერულ </a:t>
            </a:r>
            <a:r>
              <a:rPr lang="ka-GE" sz="1400" dirty="0" smtClean="0"/>
              <a:t>მეცნიერებაში, 2021წლის 2 აგვისტო.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a-GE" sz="1400" dirty="0" smtClean="0">
                <a:ea typeface="Candara" panose="020E0502030303020204" pitchFamily="34" charset="0"/>
                <a:cs typeface="Times New Roman" panose="02020603050405020304" pitchFamily="18" charset="0"/>
              </a:rPr>
              <a:t>მოხსენების სათაური - გენერაციული ნეირონული ქსელები. </a:t>
            </a:r>
            <a:r>
              <a:rPr lang="en-US" sz="1400" dirty="0">
                <a:hlinkClick r:id="rId3"/>
              </a:rPr>
              <a:t>https://</a:t>
            </a:r>
            <a:r>
              <a:rPr lang="en-US" sz="1400" dirty="0" smtClean="0">
                <a:hlinkClick r:id="rId3"/>
              </a:rPr>
              <a:t>youtu.be/EdzyV7LhZ5I</a:t>
            </a:r>
            <a:endParaRPr lang="ka-GE" sz="1400" dirty="0" smtClean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ka-GE" sz="1400" dirty="0" smtClean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400" dirty="0" err="1"/>
              <a:t>კომპიუტერული</a:t>
            </a:r>
            <a:r>
              <a:rPr lang="en-GB" sz="1400" dirty="0"/>
              <a:t> </a:t>
            </a:r>
            <a:r>
              <a:rPr lang="en-GB" sz="1400" dirty="0" err="1"/>
              <a:t>მეცნიერების</a:t>
            </a:r>
            <a:r>
              <a:rPr lang="en-GB" sz="1400" dirty="0"/>
              <a:t> </a:t>
            </a:r>
            <a:r>
              <a:rPr lang="en-GB" sz="1400" dirty="0" err="1"/>
              <a:t>ონლაინ</a:t>
            </a:r>
            <a:r>
              <a:rPr lang="en-GB" sz="1400" dirty="0"/>
              <a:t> </a:t>
            </a:r>
            <a:r>
              <a:rPr lang="en-GB" sz="1400" dirty="0" err="1"/>
              <a:t>სამუშაო</a:t>
            </a:r>
            <a:r>
              <a:rPr lang="en-GB" sz="1400" dirty="0"/>
              <a:t> </a:t>
            </a:r>
            <a:r>
              <a:rPr lang="en-GB" sz="1400" dirty="0" err="1" smtClean="0"/>
              <a:t>სემინარი</a:t>
            </a:r>
            <a:r>
              <a:rPr lang="ka-GE" sz="1400" dirty="0" smtClean="0"/>
              <a:t>, 2020 წლის 12 დეკემბერი.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a-GE" sz="1400" dirty="0" smtClean="0"/>
              <a:t>მოხსენების სათაური - </a:t>
            </a:r>
            <a:r>
              <a:rPr lang="en-GB" sz="1400" dirty="0" err="1"/>
              <a:t>თანამედროვე</a:t>
            </a:r>
            <a:r>
              <a:rPr lang="en-GB" sz="1400" dirty="0"/>
              <a:t> ნეირონული </a:t>
            </a:r>
            <a:r>
              <a:rPr lang="en-GB" sz="1400" dirty="0" err="1" smtClean="0"/>
              <a:t>ქსელები</a:t>
            </a:r>
            <a:r>
              <a:rPr lang="ka-GE" sz="1400" dirty="0" smtClean="0"/>
              <a:t>. </a:t>
            </a:r>
            <a:r>
              <a:rPr lang="ka-GE" sz="1400" dirty="0">
                <a:hlinkClick r:id="rId4"/>
              </a:rPr>
              <a:t>https://</a:t>
            </a:r>
            <a:r>
              <a:rPr lang="ka-GE" sz="1400" dirty="0" smtClean="0">
                <a:hlinkClick r:id="rId4"/>
              </a:rPr>
              <a:t>www.youtube.com/watch?v=LIN1s4dSqr0</a:t>
            </a:r>
            <a:endParaRPr lang="ka-GE" sz="1400" dirty="0" smtClean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ka-GE" sz="140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a-GE" sz="1400" dirty="0" smtClean="0">
                <a:ea typeface="Candara" panose="020E0502030303020204" pitchFamily="34" charset="0"/>
                <a:cs typeface="Times New Roman" panose="02020603050405020304" pitchFamily="18" charset="0"/>
              </a:rPr>
              <a:t>სემინარი ელეფთერ ანდრონიკაშვილის ფიზიკის ინსტიტუტში. 2020 წლის 29 იანვარი.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a-GE" sz="1400" dirty="0" smtClean="0">
                <a:ea typeface="Candara" panose="020E0502030303020204" pitchFamily="34" charset="0"/>
                <a:cs typeface="Times New Roman" panose="02020603050405020304" pitchFamily="18" charset="0"/>
              </a:rPr>
              <a:t>მოხსენების სათაური - </a:t>
            </a:r>
            <a:r>
              <a:rPr lang="ka-GE" sz="1400" dirty="0"/>
              <a:t>ხელოვნური ინტელექტი და ფიზიკური თეორიების </a:t>
            </a:r>
            <a:r>
              <a:rPr lang="ka-GE" sz="1400" dirty="0" smtClean="0"/>
              <a:t>განვითარება.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a-GE" sz="1400" dirty="0">
                <a:hlinkClick r:id="rId5"/>
              </a:rPr>
              <a:t>https://</a:t>
            </a:r>
            <a:r>
              <a:rPr lang="ka-GE" sz="1400" dirty="0" smtClean="0">
                <a:hlinkClick r:id="rId5"/>
              </a:rPr>
              <a:t>www.facebook.com/amigoSmith/videos/10219919422229293</a:t>
            </a:r>
            <a:endParaRPr lang="ka-GE" sz="1400" dirty="0" smtClean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ka-GE" sz="1400" dirty="0"/>
          </a:p>
        </p:txBody>
      </p:sp>
    </p:spTree>
    <p:extLst>
      <p:ext uri="{BB962C8B-B14F-4D97-AF65-F5344CB8AC3E}">
        <p14:creationId xmlns:p14="http://schemas.microsoft.com/office/powerpoint/2010/main" val="2906762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0484" y="1912492"/>
            <a:ext cx="11465169" cy="3557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a-GE" sz="2400" dirty="0" smtClean="0"/>
              <a:t>საქართველოს მათემატიკოსთა კავშირის </a:t>
            </a:r>
            <a:r>
              <a:rPr lang="en-US" sz="2400" dirty="0" smtClean="0"/>
              <a:t>IX </a:t>
            </a:r>
            <a:r>
              <a:rPr lang="ka-GE" sz="2400" dirty="0" smtClean="0"/>
              <a:t>საერთაშორისო კონფერენცია, ბათუმი, 2018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a-GE" sz="2400" dirty="0" smtClean="0"/>
              <a:t>მოხსენების სათაური - </a:t>
            </a:r>
            <a:r>
              <a:rPr lang="en-US" sz="2400" dirty="0" smtClean="0"/>
              <a:t>Neural Network for Self-driving Car</a:t>
            </a:r>
            <a:r>
              <a:rPr lang="ka-GE" sz="2400" dirty="0" smtClean="0"/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ka-GE" sz="2400" dirty="0" smtClean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 smtClean="0">
                <a:latin typeface="Candara" panose="020E0502030303020204" pitchFamily="34" charset="0"/>
                <a:ea typeface="Candara" panose="020E0502030303020204" pitchFamily="34" charset="0"/>
                <a:cs typeface="Times New Roman" panose="02020603050405020304" pitchFamily="18" charset="0"/>
              </a:rPr>
              <a:t>Developing Tools For Lifelong Learning In The </a:t>
            </a:r>
            <a:r>
              <a:rPr lang="en-US" sz="2400" dirty="0" err="1" smtClean="0">
                <a:latin typeface="Candara" panose="020E0502030303020204" pitchFamily="34" charset="0"/>
                <a:ea typeface="Candara" panose="020E0502030303020204" pitchFamily="34" charset="0"/>
                <a:cs typeface="Times New Roman" panose="02020603050405020304" pitchFamily="18" charset="0"/>
              </a:rPr>
              <a:t>Transcaucasus</a:t>
            </a:r>
            <a:r>
              <a:rPr lang="en-US" sz="2400" dirty="0" smtClean="0">
                <a:latin typeface="Candara" panose="020E0502030303020204" pitchFamily="34" charset="0"/>
                <a:ea typeface="Candara" panose="020E0502030303020204" pitchFamily="34" charset="0"/>
                <a:cs typeface="Times New Roman" panose="02020603050405020304" pitchFamily="18" charset="0"/>
              </a:rPr>
              <a:t> Region</a:t>
            </a:r>
            <a:r>
              <a:rPr lang="ka-GE" sz="2400" dirty="0" smtClean="0">
                <a:latin typeface="Candara" panose="020E0502030303020204" pitchFamily="34" charset="0"/>
                <a:ea typeface="Candara" panose="020E0502030303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Candara" panose="020E0502030303020204" pitchFamily="34" charset="0"/>
                <a:ea typeface="Candara" panose="020E0502030303020204" pitchFamily="34" charset="0"/>
                <a:cs typeface="Times New Roman" panose="02020603050405020304" pitchFamily="18" charset="0"/>
              </a:rPr>
              <a:t>544605-tempus-1-2013-1-be-tempus-jphes</a:t>
            </a:r>
            <a:r>
              <a:rPr lang="ka-GE" sz="2400" dirty="0" smtClean="0">
                <a:latin typeface="Candara" panose="020E0502030303020204" pitchFamily="34" charset="0"/>
                <a:ea typeface="Candara" panose="020E0502030303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Candara" panose="020E0502030303020204" pitchFamily="34" charset="0"/>
                <a:ea typeface="Candara" panose="020E0502030303020204" pitchFamily="34" charset="0"/>
                <a:cs typeface="Times New Roman" panose="02020603050405020304" pitchFamily="18" charset="0"/>
              </a:rPr>
              <a:t>2013-2017</a:t>
            </a:r>
            <a:endParaRPr lang="ka-GE" sz="2400" dirty="0" smtClean="0">
              <a:latin typeface="Candara" panose="020E0502030303020204" pitchFamily="34" charset="0"/>
              <a:ea typeface="Candara" panose="020E0502030303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 smtClean="0">
                <a:latin typeface="Candara" panose="020E0502030303020204" pitchFamily="34" charset="0"/>
                <a:ea typeface="Candara" panose="020E0502030303020204" pitchFamily="34" charset="0"/>
                <a:cs typeface="Times New Roman" panose="02020603050405020304" pitchFamily="18" charset="0"/>
              </a:rPr>
              <a:t>SANGU-</a:t>
            </a:r>
            <a:r>
              <a:rPr lang="ka-GE" sz="2400" dirty="0" smtClean="0">
                <a:latin typeface="Candara" panose="020E0502030303020204" pitchFamily="34" charset="0"/>
                <a:ea typeface="Candara" panose="020E0502030303020204" pitchFamily="34" charset="0"/>
                <a:cs typeface="Times New Roman" panose="02020603050405020304" pitchFamily="18" charset="0"/>
              </a:rPr>
              <a:t>დან კოორდინატორი</a:t>
            </a:r>
            <a:endParaRPr lang="en-US" sz="2400" dirty="0">
              <a:latin typeface="Candara" panose="020E0502030303020204" pitchFamily="34" charset="0"/>
              <a:ea typeface="Candara" panose="020E05020303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46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63769" y="391423"/>
            <a:ext cx="10471639" cy="5941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a-GE" sz="1400" b="1" dirty="0" smtClean="0"/>
              <a:t>საერთაშორისო ჟურნალის რეფერირება</a:t>
            </a:r>
          </a:p>
          <a:p>
            <a:endParaRPr lang="ka-GE" sz="1400" dirty="0" smtClean="0"/>
          </a:p>
          <a:p>
            <a:r>
              <a:rPr lang="en-GB" sz="1400" dirty="0" smtClean="0"/>
              <a:t>Neural </a:t>
            </a:r>
            <a:r>
              <a:rPr lang="en-GB" sz="1400" dirty="0"/>
              <a:t>Network Based Complex Video Event Detection</a:t>
            </a:r>
            <a:r>
              <a:rPr lang="ka-GE" sz="1400" dirty="0"/>
              <a:t>. </a:t>
            </a:r>
            <a:r>
              <a:rPr lang="ka-GE" sz="1400" dirty="0" err="1"/>
              <a:t>Dr.E.N.Ganesh</a:t>
            </a:r>
            <a:r>
              <a:rPr lang="ka-GE" sz="1400" dirty="0"/>
              <a:t>. </a:t>
            </a:r>
            <a:r>
              <a:rPr lang="ka-GE" sz="1400" dirty="0" err="1"/>
              <a:t>Georgian</a:t>
            </a:r>
            <a:r>
              <a:rPr lang="ka-GE" sz="1400" dirty="0"/>
              <a:t> </a:t>
            </a:r>
            <a:r>
              <a:rPr lang="ka-GE" sz="1400" dirty="0" err="1"/>
              <a:t>Electronic</a:t>
            </a:r>
            <a:r>
              <a:rPr lang="ka-GE" sz="1400" dirty="0"/>
              <a:t> </a:t>
            </a:r>
            <a:r>
              <a:rPr lang="ka-GE" sz="1400" dirty="0" err="1"/>
              <a:t>Scientific</a:t>
            </a:r>
            <a:r>
              <a:rPr lang="ka-GE" sz="1400" dirty="0"/>
              <a:t> </a:t>
            </a:r>
            <a:r>
              <a:rPr lang="ka-GE" sz="1400" dirty="0" err="1"/>
              <a:t>Journal</a:t>
            </a:r>
            <a:r>
              <a:rPr lang="ka-GE" sz="1400" dirty="0"/>
              <a:t>: </a:t>
            </a:r>
            <a:r>
              <a:rPr lang="ka-GE" sz="1400" dirty="0" err="1"/>
              <a:t>Computer</a:t>
            </a:r>
            <a:r>
              <a:rPr lang="ka-GE" sz="1400" dirty="0"/>
              <a:t> </a:t>
            </a:r>
            <a:r>
              <a:rPr lang="ka-GE" sz="1400" dirty="0" err="1"/>
              <a:t>Sciences</a:t>
            </a:r>
            <a:r>
              <a:rPr lang="ka-GE" sz="1400" dirty="0"/>
              <a:t> </a:t>
            </a:r>
            <a:r>
              <a:rPr lang="ka-GE" sz="1400" dirty="0" err="1"/>
              <a:t>and</a:t>
            </a:r>
            <a:r>
              <a:rPr lang="ka-GE" sz="1400" dirty="0"/>
              <a:t> </a:t>
            </a:r>
            <a:r>
              <a:rPr lang="ka-GE" sz="1400" dirty="0" err="1"/>
              <a:t>Telecommunications</a:t>
            </a:r>
            <a:endParaRPr lang="en-US" sz="1400" dirty="0"/>
          </a:p>
          <a:p>
            <a:r>
              <a:rPr lang="ka-GE" sz="1400" dirty="0"/>
              <a:t> </a:t>
            </a:r>
            <a:endParaRPr lang="en-US" sz="1400" dirty="0"/>
          </a:p>
          <a:p>
            <a:r>
              <a:rPr lang="ka-GE" sz="1400" dirty="0" err="1" smtClean="0"/>
              <a:t>Design</a:t>
            </a:r>
            <a:r>
              <a:rPr lang="ka-GE" sz="1400" dirty="0" smtClean="0"/>
              <a:t> </a:t>
            </a:r>
            <a:r>
              <a:rPr lang="ka-GE" sz="1400" dirty="0" err="1"/>
              <a:t>Of</a:t>
            </a:r>
            <a:r>
              <a:rPr lang="ka-GE" sz="1400" dirty="0"/>
              <a:t> </a:t>
            </a:r>
            <a:r>
              <a:rPr lang="ka-GE" sz="1400" dirty="0" err="1"/>
              <a:t>The</a:t>
            </a:r>
            <a:r>
              <a:rPr lang="ka-GE" sz="1400" dirty="0"/>
              <a:t> </a:t>
            </a:r>
            <a:r>
              <a:rPr lang="ka-GE" sz="1400" dirty="0" err="1"/>
              <a:t>Macrostructure</a:t>
            </a:r>
            <a:r>
              <a:rPr lang="ka-GE" sz="1400" dirty="0"/>
              <a:t> </a:t>
            </a:r>
            <a:r>
              <a:rPr lang="ka-GE" sz="1400" dirty="0" err="1"/>
              <a:t>Of</a:t>
            </a:r>
            <a:r>
              <a:rPr lang="ka-GE" sz="1400" dirty="0"/>
              <a:t> </a:t>
            </a:r>
            <a:r>
              <a:rPr lang="ka-GE" sz="1400" dirty="0" err="1"/>
              <a:t>Electronic</a:t>
            </a:r>
            <a:r>
              <a:rPr lang="ka-GE" sz="1400" dirty="0"/>
              <a:t> </a:t>
            </a:r>
            <a:r>
              <a:rPr lang="ka-GE" sz="1400" dirty="0" err="1"/>
              <a:t>Textbook</a:t>
            </a:r>
            <a:r>
              <a:rPr lang="ka-GE" sz="1400" dirty="0"/>
              <a:t>, </a:t>
            </a:r>
            <a:r>
              <a:rPr lang="en-US" sz="1400" dirty="0" err="1"/>
              <a:t>Olena</a:t>
            </a:r>
            <a:r>
              <a:rPr lang="en-US" sz="1400" dirty="0"/>
              <a:t> </a:t>
            </a:r>
            <a:r>
              <a:rPr lang="en-US" sz="1400" dirty="0" err="1"/>
              <a:t>Balalaieva</a:t>
            </a:r>
            <a:r>
              <a:rPr lang="ka-GE" sz="1400" dirty="0"/>
              <a:t>, </a:t>
            </a:r>
            <a:r>
              <a:rPr lang="ka-GE" sz="1400" dirty="0" err="1"/>
              <a:t>Georgian</a:t>
            </a:r>
            <a:r>
              <a:rPr lang="ka-GE" sz="1400" dirty="0"/>
              <a:t> </a:t>
            </a:r>
            <a:r>
              <a:rPr lang="ka-GE" sz="1400" dirty="0" err="1"/>
              <a:t>Electronic</a:t>
            </a:r>
            <a:r>
              <a:rPr lang="ka-GE" sz="1400" dirty="0"/>
              <a:t> </a:t>
            </a:r>
            <a:r>
              <a:rPr lang="ka-GE" sz="1400" dirty="0" err="1"/>
              <a:t>Scientific</a:t>
            </a:r>
            <a:r>
              <a:rPr lang="ka-GE" sz="1400" dirty="0"/>
              <a:t> </a:t>
            </a:r>
            <a:r>
              <a:rPr lang="ka-GE" sz="1400" dirty="0" err="1"/>
              <a:t>Journal</a:t>
            </a:r>
            <a:r>
              <a:rPr lang="ka-GE" sz="1400" dirty="0"/>
              <a:t>: </a:t>
            </a:r>
            <a:r>
              <a:rPr lang="ka-GE" sz="1400" dirty="0" err="1"/>
              <a:t>Computer</a:t>
            </a:r>
            <a:r>
              <a:rPr lang="ka-GE" sz="1400" dirty="0"/>
              <a:t> </a:t>
            </a:r>
            <a:r>
              <a:rPr lang="ka-GE" sz="1400" dirty="0" err="1"/>
              <a:t>Sciences</a:t>
            </a:r>
            <a:r>
              <a:rPr lang="ka-GE" sz="1400" dirty="0"/>
              <a:t> </a:t>
            </a:r>
            <a:r>
              <a:rPr lang="ka-GE" sz="1400" dirty="0" err="1"/>
              <a:t>and</a:t>
            </a:r>
            <a:r>
              <a:rPr lang="ka-GE" sz="1400" dirty="0"/>
              <a:t> </a:t>
            </a:r>
            <a:r>
              <a:rPr lang="ka-GE" sz="1400" dirty="0" err="1" smtClean="0"/>
              <a:t>Telecommunications</a:t>
            </a:r>
            <a:endParaRPr lang="ka-GE" sz="1400" dirty="0" smtClean="0"/>
          </a:p>
          <a:p>
            <a:endParaRPr lang="ka-GE" sz="1400" dirty="0"/>
          </a:p>
          <a:p>
            <a:r>
              <a:rPr lang="ka-GE" sz="1400" b="1" dirty="0" smtClean="0"/>
              <a:t>ონლაინ კურსების გავლა</a:t>
            </a:r>
          </a:p>
          <a:p>
            <a:endParaRPr lang="ka-GE" sz="1400" dirty="0"/>
          </a:p>
          <a:p>
            <a:r>
              <a:rPr lang="ka-GE" sz="1400" dirty="0"/>
              <a:t>გავიარე კიბერ უსაფრთხოებაში ონლაინ კურსი „</a:t>
            </a:r>
            <a:r>
              <a:rPr lang="en-US" sz="1400" dirty="0"/>
              <a:t>The Bible of Hacking</a:t>
            </a:r>
            <a:r>
              <a:rPr lang="ka-GE" sz="1400" dirty="0"/>
              <a:t>“</a:t>
            </a:r>
            <a:r>
              <a:rPr lang="en-US" sz="1400" dirty="0"/>
              <a:t>. </a:t>
            </a:r>
            <a:endParaRPr lang="ka-GE" sz="1400" dirty="0" smtClean="0"/>
          </a:p>
          <a:p>
            <a:endParaRPr lang="ka-GE" sz="1400" dirty="0"/>
          </a:p>
          <a:p>
            <a:r>
              <a:rPr lang="en-US" sz="1400" dirty="0" smtClean="0"/>
              <a:t>2020 </a:t>
            </a:r>
            <a:r>
              <a:rPr lang="ka-GE" sz="1400" dirty="0"/>
              <a:t>წელს, პანდემიის</a:t>
            </a:r>
            <a:r>
              <a:rPr lang="ka-GE" sz="1400" b="1" dirty="0"/>
              <a:t> </a:t>
            </a:r>
            <a:r>
              <a:rPr lang="ka-GE" sz="1400" dirty="0"/>
              <a:t>გამო საქართველოში ონლაინ სწავლების შემოღებისას თითქმის ყველა უმაღლესი სასწავლებელი და სკოლა აღმოჩნდა მოულოდნელი და უცნობი რეალობის წინაში. დისტანციური სწავლების გამოცხადებიდან რამდენიმე დღეში ჩავწერე </a:t>
            </a:r>
            <a:r>
              <a:rPr lang="ka-GE" sz="1400" dirty="0" err="1"/>
              <a:t>ვიდეოინსტრუქცია</a:t>
            </a:r>
            <a:r>
              <a:rPr lang="ka-GE" sz="1400" dirty="0"/>
              <a:t> და საჯაროდ გამოვაქვეყნე სოციალურ ქსელში. შედეგად, ძალიან ბევრმა სასწავლებელმა სწორედ ამ ინსტრუქციით იხელმძღვანელა, რაც ვფიქრობ, რომ არის დადებითი წვლილი, რომელიც შევიტანე საქართველოს საგანმანათლებლო სივრცის განვითარებაში ამ რთულ პერიოდში </a:t>
            </a:r>
            <a:r>
              <a:rPr lang="en-US" sz="1400" dirty="0"/>
              <a:t>(</a:t>
            </a:r>
            <a:r>
              <a:rPr lang="ka-GE" sz="1400" dirty="0" err="1"/>
              <a:t>ვიდეოინსტრუქციას</a:t>
            </a:r>
            <a:r>
              <a:rPr lang="ka-GE" sz="1400" dirty="0"/>
              <a:t> 41 000-ზე მეტი ნახვა აქვს ქართულ აუდიტორიაში</a:t>
            </a:r>
            <a:r>
              <a:rPr lang="en-US" sz="1400" dirty="0"/>
              <a:t>)</a:t>
            </a:r>
            <a:r>
              <a:rPr lang="ka-GE" sz="1400" dirty="0"/>
              <a:t>: </a:t>
            </a:r>
            <a:br>
              <a:rPr lang="ka-GE" sz="1400" dirty="0"/>
            </a:br>
            <a:r>
              <a:rPr lang="ka-GE" sz="1400" dirty="0"/>
              <a:t>https://www.facebook.com/amigoSmith/videos/10220032475015542</a:t>
            </a:r>
            <a:endParaRPr lang="en-US" sz="1400" dirty="0"/>
          </a:p>
          <a:p>
            <a:r>
              <a:rPr lang="ka-GE" sz="1400" dirty="0"/>
              <a:t> </a:t>
            </a:r>
            <a:endParaRPr lang="en-US" sz="1400" dirty="0"/>
          </a:p>
          <a:p>
            <a:r>
              <a:rPr lang="ka-GE" sz="1400" dirty="0" smtClean="0"/>
              <a:t>ამავე </a:t>
            </a:r>
            <a:r>
              <a:rPr lang="ka-GE" sz="1400" dirty="0"/>
              <a:t>პერიოდში გამოქვეყნდა ჩემი თანაავტორობით სტატია: </a:t>
            </a:r>
            <a:r>
              <a:rPr lang="ka-GE" sz="1400" dirty="0" err="1"/>
              <a:t>Online</a:t>
            </a:r>
            <a:r>
              <a:rPr lang="ka-GE" sz="1400" dirty="0"/>
              <a:t> სწავლების თავისებურებები (რჩევები - ეთიკა და უსაფრთხოება). ინტერნეტის ბმულია: </a:t>
            </a:r>
            <a:r>
              <a:rPr lang="ka-GE" sz="1400" u="sng" dirty="0">
                <a:hlinkClick r:id="rId2" action="ppaction://hlinkfile"/>
              </a:rPr>
              <a:t>academia.edu/42257612/</a:t>
            </a:r>
            <a:r>
              <a:rPr lang="ka-GE" sz="1400" u="sng" dirty="0" err="1">
                <a:hlinkClick r:id="rId2" action="ppaction://hlinkfile"/>
              </a:rPr>
              <a:t>Online_სწავლების_თავისებურებები_რჩევები_ეთიკა_და_უსაფრთხოება</a:t>
            </a:r>
            <a:r>
              <a:rPr lang="ka-GE" sz="1400" u="sng" dirty="0">
                <a:hlinkClick r:id="rId2" action="ppaction://hlinkfile"/>
              </a:rPr>
              <a:t>_</a:t>
            </a:r>
            <a:endParaRPr lang="en-US" sz="1400" dirty="0"/>
          </a:p>
          <a:p>
            <a:r>
              <a:rPr lang="ka-GE" sz="1400" dirty="0"/>
              <a:t> </a:t>
            </a:r>
            <a:endParaRPr lang="en-US" sz="1400" dirty="0"/>
          </a:p>
          <a:p>
            <a:r>
              <a:rPr lang="ka-GE" sz="1400" dirty="0" smtClean="0"/>
              <a:t>ამავე </a:t>
            </a:r>
            <a:r>
              <a:rPr lang="ka-GE" sz="1400" dirty="0"/>
              <a:t>პერიოდში გამოქვეყნდა ჩემი შექმნილი ქართულენოვანი სახელმძღვანელო </a:t>
            </a:r>
            <a:r>
              <a:rPr lang="en-US" sz="1400" dirty="0"/>
              <a:t>Google Meet</a:t>
            </a:r>
            <a:r>
              <a:rPr lang="ka-GE" sz="1400" dirty="0"/>
              <a:t>-ის გამოყენების შესახებ: </a:t>
            </a:r>
            <a:r>
              <a:rPr lang="ka-GE" sz="1400" u="sng" dirty="0">
                <a:hlinkClick r:id="rId3"/>
              </a:rPr>
              <a:t>https://www.academia.edu/43109549/ვიდეო_შეხვედრების_სისტემა_Google_Meet</a:t>
            </a:r>
            <a:endParaRPr lang="en-US" sz="140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400" dirty="0">
              <a:latin typeface="Candara" panose="020E0502030303020204" pitchFamily="34" charset="0"/>
              <a:ea typeface="Candara" panose="020E05020303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566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63769" y="391423"/>
            <a:ext cx="1047163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a-GE" sz="2800" b="1" dirty="0" smtClean="0"/>
              <a:t>სამომავლო </a:t>
            </a:r>
            <a:r>
              <a:rPr lang="ka-GE" sz="2800" b="1" dirty="0" smtClean="0"/>
              <a:t>გეგმები</a:t>
            </a:r>
            <a:endParaRPr lang="en-US" sz="2800" b="1" dirty="0"/>
          </a:p>
          <a:p>
            <a:pPr algn="ctr"/>
            <a:endParaRPr lang="en-US" sz="2800" b="1" dirty="0" smtClean="0"/>
          </a:p>
          <a:p>
            <a:r>
              <a:rPr lang="ka-GE" sz="2800" dirty="0" smtClean="0"/>
              <a:t>ბატონ კობასთან ერთად ვმუშაობ ნეირონული ქსელების ოპტიმიზაციის ალგორითმებზე.</a:t>
            </a:r>
          </a:p>
          <a:p>
            <a:endParaRPr lang="ka-GE" sz="2800" dirty="0"/>
          </a:p>
          <a:p>
            <a:r>
              <a:rPr lang="ka-GE" sz="2800" dirty="0" smtClean="0"/>
              <a:t>მაქვს სურვილი, რომ </a:t>
            </a:r>
            <a:r>
              <a:rPr lang="ka-GE" sz="2800" dirty="0" err="1" smtClean="0"/>
              <a:t>ვიმუშავო</a:t>
            </a:r>
            <a:r>
              <a:rPr lang="ka-GE" sz="2800" dirty="0" smtClean="0"/>
              <a:t> </a:t>
            </a:r>
            <a:r>
              <a:rPr lang="ka-GE" sz="2800" dirty="0" err="1" smtClean="0"/>
              <a:t>ნეირომეცნიერებაში</a:t>
            </a:r>
            <a:r>
              <a:rPr lang="ka-GE" sz="2800" dirty="0" smtClean="0"/>
              <a:t>, კერძოდ, ვირთაგვების ქცევების ავტომატური დამუშავების სიტემაზე.</a:t>
            </a:r>
            <a:endParaRPr lang="ka-GE" sz="2800" dirty="0" smtClean="0"/>
          </a:p>
          <a:p>
            <a:endParaRPr lang="ka-GE" sz="2800" b="1" dirty="0">
              <a:latin typeface="Candara" panose="020E0502030303020204" pitchFamily="34" charset="0"/>
              <a:ea typeface="Candara" panose="020E0502030303020204" pitchFamily="34" charset="0"/>
              <a:cs typeface="Times New Roman" panose="02020603050405020304" pitchFamily="18" charset="0"/>
            </a:endParaRPr>
          </a:p>
          <a:p>
            <a:endParaRPr lang="en-US" sz="2800" dirty="0">
              <a:latin typeface="Candara" panose="020E0502030303020204" pitchFamily="34" charset="0"/>
              <a:ea typeface="Candara" panose="020E05020303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364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63769" y="391423"/>
            <a:ext cx="1047163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a-GE" sz="2800" b="1" dirty="0" smtClean="0"/>
              <a:t>საჭიროებები</a:t>
            </a:r>
            <a:endParaRPr lang="en-US" sz="2800" b="1" dirty="0"/>
          </a:p>
          <a:p>
            <a:pPr algn="ctr"/>
            <a:endParaRPr lang="en-US" sz="2800" b="1" dirty="0" smtClean="0"/>
          </a:p>
          <a:p>
            <a:pPr marL="514350" indent="-514350">
              <a:buAutoNum type="arabicPeriod"/>
            </a:pPr>
            <a:r>
              <a:rPr lang="ka-GE" sz="2800" dirty="0" smtClean="0"/>
              <a:t>დრო</a:t>
            </a:r>
          </a:p>
          <a:p>
            <a:pPr marL="514350" indent="-514350">
              <a:buAutoNum type="arabicPeriod"/>
            </a:pPr>
            <a:endParaRPr lang="ka-GE" sz="2800" dirty="0"/>
          </a:p>
          <a:p>
            <a:pPr marL="514350" indent="-514350">
              <a:buAutoNum type="arabicPeriod"/>
            </a:pPr>
            <a:endParaRPr lang="ka-GE" sz="2800" dirty="0" smtClean="0"/>
          </a:p>
          <a:p>
            <a:pPr marL="514350" indent="-514350">
              <a:buAutoNum type="arabicPeriod"/>
            </a:pPr>
            <a:r>
              <a:rPr lang="ka-GE" sz="2800" dirty="0" smtClean="0"/>
              <a:t>კომპიუტერი, რომელსაც ექნება კარგი გრაფიკული დაფა (</a:t>
            </a:r>
            <a:r>
              <a:rPr lang="en-US" sz="2800" dirty="0" smtClean="0"/>
              <a:t>GPU), </a:t>
            </a:r>
            <a:r>
              <a:rPr lang="ka-GE" sz="2800" dirty="0" smtClean="0"/>
              <a:t>რომ მოვახერხო დიდი ნეირონული ქსელების გაწვრთნა პრაქტიკული </a:t>
            </a:r>
            <a:r>
              <a:rPr lang="ka-GE" sz="2800" smtClean="0"/>
              <a:t>შედეგების მისაღებად.</a:t>
            </a:r>
            <a:endParaRPr lang="ka-GE" sz="2800" dirty="0" smtClean="0"/>
          </a:p>
          <a:p>
            <a:endParaRPr lang="ka-GE" sz="2800" b="1" dirty="0">
              <a:latin typeface="Candara" panose="020E0502030303020204" pitchFamily="34" charset="0"/>
              <a:ea typeface="Candara" panose="020E0502030303020204" pitchFamily="34" charset="0"/>
              <a:cs typeface="Times New Roman" panose="02020603050405020304" pitchFamily="18" charset="0"/>
            </a:endParaRPr>
          </a:p>
          <a:p>
            <a:endParaRPr lang="en-US" sz="2800" dirty="0">
              <a:latin typeface="Candara" panose="020E0502030303020204" pitchFamily="34" charset="0"/>
              <a:ea typeface="Candara" panose="020E05020303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870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199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Candara</vt:lpstr>
      <vt:lpstr>Sylfaen</vt:lpstr>
      <vt:lpstr>Times New Roman</vt:lpstr>
      <vt:lpstr>Office Theme</vt:lpstr>
      <vt:lpstr>სამეცნიერო მუშაობის ანგარიში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სამეცნიერო მუშაობის ანგარიში</dc:title>
  <dc:creator>პაატა გოგიშვილი</dc:creator>
  <cp:lastModifiedBy>პაატა გოგიშვილი</cp:lastModifiedBy>
  <cp:revision>11</cp:revision>
  <dcterms:created xsi:type="dcterms:W3CDTF">2022-07-25T05:27:49Z</dcterms:created>
  <dcterms:modified xsi:type="dcterms:W3CDTF">2022-07-25T07:20:41Z</dcterms:modified>
</cp:coreProperties>
</file>